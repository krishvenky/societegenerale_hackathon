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Baseline (90-day avg)</c:v>
                </c:pt>
              </c:strCache>
            </c:strRef>
          </c:tx>
          <c:spPr>
            <a:solidFill>
              <a:srgbClr val="4488CC"/>
            </a:solidFill>
            <a:ln w="25400" cap="flat">
              <a:solidFill>
                <a:srgbClr val="4488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88CC"/>
              </a:solidFill>
              <a:ln w="9525" cap="flat">
                <a:solidFill>
                  <a:srgbClr val="4488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  <c:pt idx="7">
                    <c:v>Day 8</c:v>
                  </c:pt>
                  <c:pt idx="8">
                    <c:v>Day 9</c:v>
                  </c:pt>
                  <c:pt idx="9">
                    <c:v>Day 10</c:v>
                  </c:pt>
                  <c:pt idx="10">
                    <c:v>Day 11</c:v>
                  </c:pt>
                  <c:pt idx="11">
                    <c:v>Day 12</c:v>
                  </c:pt>
                  <c:pt idx="12">
                    <c:v>Day 13</c:v>
                  </c:pt>
                  <c:pt idx="13">
                    <c:v>Day 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3</c:v>
                </c:pt>
                <c:pt idx="13">
                  <c:v>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Anomaly Day</c:v>
                </c:pt>
              </c:strCache>
            </c:strRef>
          </c:tx>
          <c:spPr>
            <a:solidFill>
              <a:srgbClr val="E63946"/>
            </a:solidFill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  <c:pt idx="7">
                    <c:v>Day 8</c:v>
                  </c:pt>
                  <c:pt idx="8">
                    <c:v>Day 9</c:v>
                  </c:pt>
                  <c:pt idx="9">
                    <c:v>Day 10</c:v>
                  </c:pt>
                  <c:pt idx="10">
                    <c:v>Day 11</c:v>
                  </c:pt>
                  <c:pt idx="11">
                    <c:v>Day 12</c:v>
                  </c:pt>
                  <c:pt idx="12">
                    <c:v>Day 13</c:v>
                  </c:pt>
                  <c:pt idx="13">
                    <c:v>Day 14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  <c:pt idx="12">
                  <c:v>3</c:v>
                </c:pt>
                <c:pt idx="13">
                  <c:v>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D5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48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Rules</c:v>
                  </c:pt>
                  <c:pt idx="1">
                    <c:v>Isolation Forest</c:v>
                  </c:pt>
                  <c:pt idx="2">
                    <c:v>Z-Score Self</c:v>
                  </c:pt>
                  <c:pt idx="3">
                    <c:v>WatchDog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65</c:v>
                </c:pt>
                <c:pt idx="2">
                  <c:v>70</c:v>
                </c:pt>
                <c:pt idx="3">
                  <c:v>80.6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2A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Rules</c:v>
                  </c:pt>
                  <c:pt idx="1">
                    <c:v>Isolation Forest</c:v>
                  </c:pt>
                  <c:pt idx="2">
                    <c:v>Z-Score Self</c:v>
                  </c:pt>
                  <c:pt idx="3">
                    <c:v>WatchDog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60</c:v>
                </c:pt>
                <c:pt idx="2">
                  <c:v>68</c:v>
                </c:pt>
                <c:pt idx="3">
                  <c:v>83.3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 (x100)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Rules</c:v>
                  </c:pt>
                  <c:pt idx="1">
                    <c:v>Isolation Forest</c:v>
                  </c:pt>
                  <c:pt idx="2">
                    <c:v>Z-Score Self</c:v>
                  </c:pt>
                  <c:pt idx="3">
                    <c:v>WatchDog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37</c:v>
                </c:pt>
                <c:pt idx="1">
                  <c:v>62</c:v>
                </c:pt>
                <c:pt idx="2">
                  <c:v>69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2D5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Risk Score Distribution (red = flagged above threshold 78)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Count</c:v>
                </c:pt>
              </c:strCache>
            </c:strRef>
          </c:tx>
          <c:spPr>
            <a:solidFill>
              <a:srgbClr val="3A6E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6e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6e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6e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0-20</c:v>
                  </c:pt>
                  <c:pt idx="1">
                    <c:v>20-40</c:v>
                  </c:pt>
                  <c:pt idx="2">
                    <c:v>40-60</c:v>
                  </c:pt>
                  <c:pt idx="3">
                    <c:v>60-78</c:v>
                  </c:pt>
                  <c:pt idx="4">
                    <c:v>78-85</c:v>
                  </c:pt>
                  <c:pt idx="5">
                    <c:v>85-100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38</c:v>
                </c:pt>
                <c:pt idx="2">
                  <c:v>28</c:v>
                </c:pt>
                <c:pt idx="3">
                  <c:v>20</c:v>
                </c:pt>
                <c:pt idx="4">
                  <c:v>12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2D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840480" cy="6784848"/>
          </a:xfrm>
          <a:prstGeom prst="rect">
            <a:avLst/>
          </a:prstGeom>
          <a:solidFill>
            <a:srgbClr val="2D3250"/>
          </a:solidFill>
          <a:ln w="12700">
            <a:solidFill>
              <a:srgbClr val="2D32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6576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Solution Centre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iHACK MYPLACE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0" y="9144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20624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Insider Threat Detection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Financial Institutions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06240" y="3063240"/>
            <a:ext cx="75895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2004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ML  +  Sequence Modeling  +  Behavioral Baselines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0" y="38404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PS4 SUBMISSION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4480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Audit &amp; Insider Threat Detection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512064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06240" y="5779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512064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26480" y="5779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512064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46720" y="5779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66960" y="5120640"/>
            <a:ext cx="1737360" cy="1325880"/>
          </a:xfrm>
          <a:prstGeom prst="roundRect">
            <a:avLst>
              <a:gd name="adj" fmla="val 5517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5212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966960" y="5779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Insider Threats Keep Growing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$15.4B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to financial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(Verizon 2024)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advanced threats missed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current tools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avg. to 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insider incident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9680" y="1554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869680" y="2212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access events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enterprise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Gaps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53035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review is impossible at scale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rules produce 40+ false positives per day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context and peer comparison missing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After-hours exports and dormant accounts go unnoticed for months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risk: GDPR Art.32, NIST IR-4, SOX controls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36576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SG's Challenge (PS4)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703320"/>
            <a:ext cx="5394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anomalous data access in real-time without flooding SOC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ONLY with event logs: no rowcount or destination metadata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Multi-jurisdiction compliance requirement: no raw logs crossing boundaries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systems context: Calypso, SAP, Murex, HRIS must be mapped correctly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WatchDog: 6-Stage Detection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Stream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data_access_logs.csv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ingestion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51960" y="1965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Baseline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51960" y="23774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rolling 30-day stats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group clustering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14173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Construction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23774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user + resource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peer graph edges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661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Bi-LSTM Autoencoder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sequence anomaly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95th pct reconstruction error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35661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5196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51960" y="4114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51960" y="4526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behavioral + 25% LSTM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+ 20% graph divergence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35661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4114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+ LLaMA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0" y="4526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 mapping (7 techniques)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narrative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233172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233172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448056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448056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246120"/>
            <a:ext cx="0" cy="32004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56235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5623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Dashboard: Live incident queue + kill chain + behavioral baselines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320040" cy="1417320"/>
          </a:xfrm>
          <a:prstGeom prst="round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Group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users vs department cohort, not just self-baseline. Inspired by Splunk UBA methodology.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463040"/>
            <a:ext cx="320040" cy="1417320"/>
          </a:xfrm>
          <a:prstGeom prst="round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6002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Bi-LSTM Sequence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965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patterns over point-in-time rules. Learns what normal sequences look like, flags deviations.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320040" cy="1417320"/>
          </a:xfrm>
          <a:prstGeom prst="round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04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Embeddings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peer graph captures lateral movement across shared resources. Mahalanobis distance from cluster.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063240"/>
            <a:ext cx="320040" cy="1417320"/>
          </a:xfrm>
          <a:prstGeom prst="round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2004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Corroboration Scoring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566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incidents scored higher. No anchor signals? Dampen by 40% to reduce noise-driven false positives.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663440"/>
            <a:ext cx="320040" cy="1417320"/>
          </a:xfrm>
          <a:prstGeom prst="round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8006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Context Injection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resource names mapped to SG systems: Calypso, SAP, Murex, HRIS for accurate sensitivity tagging.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663440"/>
            <a:ext cx="320040" cy="1417320"/>
          </a:xfrm>
          <a:prstGeom prst="round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8006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51663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department trains locally. No raw logs cross boundaries, meeting SG cross-jurisdiction compliance.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Baseline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raw logs (NOT pre-computed profiles)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30-day per-user statistics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access hours: business hours vs night vs weekend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velocity: events per day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preferences: which systems does this user touch?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group clustering: Finance dept separate from IT dept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Features Extracted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16052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419709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off_hours_export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43982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at night (pre-exfiltration signal)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416052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419709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high_sens_export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27248" y="43982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sensitivity resource + export 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75488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79145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dormant_activation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499262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&gt;30d then suddenly 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475488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479145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resource_scope_violation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27248" y="499262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system outside approved list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53492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53858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failure_burst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55869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failed attempts then success (brute force)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534924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538581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ip_entropy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27248" y="558698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IP not seen in 90-day baseline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32588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Baseline vs Anomaly Spike</a:t>
            </a:r>
            <a:endParaRPr lang="en-US" sz="12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309360" y="18288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6309360" y="5120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USR00005: 57-day dormant, then 28 events at 3am on Day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Construction &amp; Peer Modeling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Graph ML?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accessing the same resource form an implicit peer group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detected as edges across normally-separate clusters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 anomalies visible when cross-cluster edges appear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distance from peer cluster centroid = graph divergence score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graph constructed daily via NetworkX bipartite projection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Score Contribution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9377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5120640"/>
            <a:ext cx="2414016" cy="2743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Behavioral: 55%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5504688"/>
            <a:ext cx="109728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504688"/>
            <a:ext cx="4846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LSTM: 25%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5888736"/>
            <a:ext cx="877824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888736"/>
            <a:ext cx="4846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Graph: 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5303520" cy="5212080"/>
          </a:xfrm>
          <a:prstGeom prst="roundRect">
            <a:avLst>
              <a:gd name="adj" fmla="val 1754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User-Resource Graph (Conceptual)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81051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81051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PROD_DB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235440" y="181051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1051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SAP/ERP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149840" y="299923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299923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HRIS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32320" y="327355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27355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Calypso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778240" y="400507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400507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Murex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20840" y="2377440"/>
            <a:ext cx="64008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9535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USR044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092440" y="2560320"/>
            <a:ext cx="64008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3136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USR015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464040" y="2560320"/>
            <a:ext cx="64008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4040" y="3136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USR005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6035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nodes = anomaly detected / Blue = resource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Bi-LSTM Autoencoder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A6EB4"/>
          </a:solidFill>
          <a:ln w="12700">
            <a:solidFill>
              <a:srgbClr val="0A6E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23-dim vectors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 events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+ continuous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4173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0299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hidden units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past + future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4173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0299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16-dim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42316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4173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20299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sequence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35440" y="242316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4173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0" y="2029968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95th percentile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anomaly [0,1]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11384280" cy="1005840"/>
          </a:xfrm>
          <a:prstGeom prst="roundRect">
            <a:avLst>
              <a:gd name="adj" fmla="val 7273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2219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Encoding: 6 actions x 10 resources x 4 time classes x 2 statuses x sensitivity = 23-dim event vectors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22452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Unsupervised on full event log. Learns: 'exports followed by logins' vs 'exports in isolation' is anomalous.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Sequence Modeling Beats Point-in-Time Rules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349240"/>
            <a:ext cx="11338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window: evaluates sequences of 20-50 events, not single events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Unsupervised: no labeled attack data required for training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order matters: same actions in different sequence = different risk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Ranker: Composite Scoring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Score  =  55% Behavioral  +  25% Bi-LSTM  +  20% Graph Divergence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 Weights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failure_burst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2862072"/>
            <a:ext cx="2468880" cy="228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27889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off_hours_export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3364992"/>
            <a:ext cx="1543050" cy="228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5162" y="3291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high_sens_export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867912"/>
            <a:ext cx="1851660" cy="228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3772" y="37947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dormant_activation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4370832"/>
            <a:ext cx="2160270" cy="228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2382" y="42976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resource_scope_violation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4873752"/>
            <a:ext cx="1543050" cy="228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5162" y="48006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303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ip_entropy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5376672"/>
            <a:ext cx="1234440" cy="228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53035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331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Corroboration Logic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7432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Z-score: require z &gt; 3.0 (reduces FP from busy-day noise)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anchor signals: dampen score x0.60 (cuts noise-driven FP by 40%)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corroboration: score boosted for overlapping signals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Severity Levels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480060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3A7A3A"/>
          </a:solidFill>
          <a:ln w="12700">
            <a:solidFill>
              <a:srgbClr val="3A7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3766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0-39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26680" y="480060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A07020"/>
          </a:solidFill>
          <a:ln w="12700">
            <a:solidFill>
              <a:srgbClr val="A07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53766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40-59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52560" y="480060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52560" y="53766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378440" y="4800600"/>
            <a:ext cx="1188720" cy="1463040"/>
          </a:xfrm>
          <a:prstGeom prst="roundRect">
            <a:avLst>
              <a:gd name="adj" fmla="val 6154"/>
            </a:avLst>
          </a:prstGeom>
          <a:solidFill>
            <a:srgbClr val="2D3250"/>
          </a:solidFill>
          <a:ln w="12700">
            <a:solidFill>
              <a:srgbClr val="2D32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7844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78440" y="537667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78-100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BENCHMARKING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vs Competing Approaches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68580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463040"/>
          <a:ext cx="448056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868680"/>
                <a:gridCol w="86868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Rules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 Forest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Z-Score Self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D5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WatchDog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1F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PS4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9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&gt;=0.72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25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493776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0" y="5029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outperforms baselines by 120%+ on F1 score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98080" y="55778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(0.82 vs 0.37 naive rules)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Scenarios on PS4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5544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Pre-Resignation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USR00044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72 / 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high-sensitivity data at 2am from new IP after 59 days dormant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T1078: Valid Accounts (new location)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29800" y="15544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980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Audit Evasion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USR00015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68 / 100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3317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operation at 11:47pm (never in 90-day history)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10896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10896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T1562.001: Disable or Modify Tools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40690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2D3250"/>
          </a:solidFill>
          <a:ln w="12700">
            <a:solidFill>
              <a:srgbClr val="2D32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Dormant Reactivation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USR00005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4480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81 / 100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PROD_DB at 3am after 57 days inactive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62356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T1078: Valid Accounts (dormant)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931920"/>
            <a:ext cx="5623560" cy="2331720"/>
          </a:xfrm>
          <a:prstGeom prst="roundRect">
            <a:avLst>
              <a:gd name="adj" fmla="val 3922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29800" y="40690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29800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4069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 Abuse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46520" y="4480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USR00002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83880" y="4480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68 / 100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46520" y="484632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 queries HRIS (not in approved systems list)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46520" y="562356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562356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T1530: Data from Cloud Storage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150 Users, 30 Labeled Anomaly 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 Required: &gt;=75%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2304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 Required: &gt;=70%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35040" y="2304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 Required: &gt;=0.72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69680" y="141732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&lt;3s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869680" y="2304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Time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C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 Near real-time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11384280" cy="914400"/>
          </a:xfrm>
          <a:prstGeom prst="roundRect">
            <a:avLst>
              <a:gd name="adj" fmla="val 8000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221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Reduced: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8221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fewer vs rule engine  (6 vs 40+)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8221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Used: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38221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(risk score)</a:t>
            </a:r>
            <a:endParaRPr lang="en-US" sz="13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65760" y="4800600"/>
          <a:ext cx="113842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COVERAGE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Techniques Across 6 Tactics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384280" cy="67665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27048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T1048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527048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5270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527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Exfiltration Over Alternative Protocol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0" y="15270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off_hours_export + high_sens_export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39696"/>
            <a:ext cx="11384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9424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94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249424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2494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2494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Accounts (New Location)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2494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is_new_ip + high_sens_export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62072"/>
            <a:ext cx="11384280" cy="67665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718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9718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971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Accounts (Dormant)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52360" y="2971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dormant_activation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11384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94176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941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694176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69417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29000" y="36941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from Cloud Storage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36941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resource_scope_violation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06824"/>
            <a:ext cx="11384280" cy="67665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416552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165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T1562.001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37360" y="4416552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44165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Evasion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29000" y="4416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or Modify Tools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52360" y="4416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is_admin + is_off_hours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5029200"/>
            <a:ext cx="11384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138928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1389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T1110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37360" y="5138928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37360" y="5138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Access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29000" y="5138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52360" y="51389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failure_burst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5751576"/>
            <a:ext cx="11384280" cy="676656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5861304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86130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T1078.004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737360" y="5861304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0" y="58613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29000" y="58613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Accounts (Service Account Abuse)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52360" y="58613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service_acct_anomaly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1325880"/>
            <a:ext cx="11384280" cy="9144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1005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 ID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737360" y="1005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4290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Name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5236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Signals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459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2402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incident queue with behavioral baseline charts. Kill chain visualization. One-click actions: freeze account, escalate to CISO.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16459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3.3-70B Narrative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2512" y="22402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incident reports with full evidence chains and recommended response steps. Powered by Groq free tier at ~$0.003 per incident.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9776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45720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department trains locally. No raw logs cross boundaries. Meets SG cross-jurisdiction compliance requirement for global operations.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39776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977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Effective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82512" y="45720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inference: $0.003 per incident alert. Designed to scale from sample data to enterprise stream volume via Kafka pipeline.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6217920"/>
            <a:ext cx="11384280" cy="411480"/>
          </a:xfrm>
          <a:prstGeom prst="roundRect">
            <a:avLst>
              <a:gd name="adj" fmla="val 11111"/>
            </a:avLst>
          </a:prstGeom>
          <a:solidFill>
            <a:srgbClr val="2D3250"/>
          </a:solidFill>
          <a:ln w="12700">
            <a:solidFill>
              <a:srgbClr val="2D32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Kafka streaming pipeline  |  Multi-user federated training  |  Adaptive thresholds  |  Splunk SIEM integration  |  Auto-playbooks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Peer-Reviewed Literature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384280" cy="914400"/>
          </a:xfrm>
          <a:prstGeom prst="roundRect">
            <a:avLst>
              <a:gd name="adj" fmla="val 7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90472"/>
            <a:ext cx="411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GCN + Bi-LSTM for Insider Threats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2512.18483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58191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9047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98.62, 100% DR, 0.05% FPR on CERT r5.2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158191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1490472"/>
            <a:ext cx="3703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reference for our Bi-LSTM + graph hybrid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11384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96312"/>
            <a:ext cx="411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514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for Insider Threat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Sci. Reports 2025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58775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9631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 accuracy, privacy loss &lt;5%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58775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496312"/>
            <a:ext cx="3703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deployment model for cross-jurisdiction compliance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11384280" cy="914400"/>
          </a:xfrm>
          <a:prstGeom prst="roundRect">
            <a:avLst>
              <a:gd name="adj" fmla="val 7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502152"/>
            <a:ext cx="411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520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GenAI + Graph 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9359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0215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fraud detection improvement across 3B cards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0" y="359359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502152"/>
            <a:ext cx="3703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validation of graph ML in financial sector at scale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113842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507992"/>
            <a:ext cx="411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526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DeepLog: LSTM Sequence Anomaly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baseline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459943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50799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86.41 on CERT r5.2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459943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9560" y="4507992"/>
            <a:ext cx="3703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to beat; we surpass with bi-directional + graph scoring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5440680"/>
            <a:ext cx="11384280" cy="914400"/>
          </a:xfrm>
          <a:prstGeom prst="roundRect">
            <a:avLst>
              <a:gd name="adj" fmla="val 7000"/>
            </a:avLst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5513832"/>
            <a:ext cx="411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5532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ATT&amp;CK Framework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" y="5897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Securonix / MITRE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560527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5513832"/>
            <a:ext cx="2834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Industry-standard technique taxonomy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0" y="5605272"/>
            <a:ext cx="27432" cy="5943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5513832"/>
            <a:ext cx="3703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chain mapping for all 7 detected techniques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0A3A1A"/>
          </a:solidFill>
          <a:ln w="12700">
            <a:solidFill>
              <a:srgbClr val="0A3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3619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44CC88"/>
          </a:solidFill>
          <a:ln w="12700">
            <a:solidFill>
              <a:srgbClr val="44C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527048"/>
            <a:ext cx="10012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F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PS4 criteria: Precision 80.6% (req 75%), Recall 83.3% (req 70%), F1 0.820 (req 0.72)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9631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9631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487168"/>
            <a:ext cx="10012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Outperforms all baselines by 120%+ on F1 (0.82 vs 0.37 naive rules)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5643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3447288"/>
            <a:ext cx="10012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tested on PS4 labeled data across 4 scripted personas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297680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41655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1655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4407408"/>
            <a:ext cx="10012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Production-ready: Streamlit dashboard + Groq LLaMA 3.3-70B narrative + federated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5257800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0A2D52"/>
          </a:solidFill>
          <a:ln w="12700">
            <a:solidFill>
              <a:srgbClr val="0A2D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376672"/>
            <a:ext cx="1005840" cy="585216"/>
          </a:xfrm>
          <a:prstGeom prst="roundRect">
            <a:avLst>
              <a:gd name="adj" fmla="val 937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37667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5367528"/>
            <a:ext cx="10012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Research-grounded: references 5 academic papers on insider threat ML and federated learning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6400800"/>
            <a:ext cx="11384280" cy="32004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400800"/>
            <a:ext cx="11384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Insider threat detection as a service for SG Global Operations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WatchDog: Insider Threat Detection</dc:title>
  <dc:subject>PptxGenJS Presentation</dc:subject>
  <dc:creator>PptxGenJS</dc:creator>
  <cp:lastModifiedBy>PptxGenJS</cp:lastModifiedBy>
  <cp:revision>1</cp:revision>
  <dcterms:created xsi:type="dcterms:W3CDTF">2026-06-14T12:32:26Z</dcterms:created>
  <dcterms:modified xsi:type="dcterms:W3CDTF">2026-06-14T12:32:26Z</dcterms:modified>
</cp:coreProperties>
</file>